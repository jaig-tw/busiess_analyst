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1914" y="8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00638-5569-46D1-8803-F439BA0C2A89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21DEC-A23E-47A3-88CF-437571CC36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98377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00638-5569-46D1-8803-F439BA0C2A89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21DEC-A23E-47A3-88CF-437571CC36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32460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00638-5569-46D1-8803-F439BA0C2A89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21DEC-A23E-47A3-88CF-437571CC36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31111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00638-5569-46D1-8803-F439BA0C2A89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21DEC-A23E-47A3-88CF-437571CC36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05554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00638-5569-46D1-8803-F439BA0C2A89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21DEC-A23E-47A3-88CF-437571CC36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13570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00638-5569-46D1-8803-F439BA0C2A89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21DEC-A23E-47A3-88CF-437571CC36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5097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00638-5569-46D1-8803-F439BA0C2A89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21DEC-A23E-47A3-88CF-437571CC36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79989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00638-5569-46D1-8803-F439BA0C2A89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21DEC-A23E-47A3-88CF-437571CC36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95657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00638-5569-46D1-8803-F439BA0C2A89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21DEC-A23E-47A3-88CF-437571CC36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58080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00638-5569-46D1-8803-F439BA0C2A89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21DEC-A23E-47A3-88CF-437571CC36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39666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00638-5569-46D1-8803-F439BA0C2A89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21DEC-A23E-47A3-88CF-437571CC36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45090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A00638-5569-46D1-8803-F439BA0C2A89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D21DEC-A23E-47A3-88CF-437571CC36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28920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endParaRPr lang="en-IN" dirty="0"/>
          </a:p>
        </p:txBody>
      </p:sp>
      <p:sp>
        <p:nvSpPr>
          <p:cNvPr id="5" name="Rounded Rectangle 4"/>
          <p:cNvSpPr/>
          <p:nvPr/>
        </p:nvSpPr>
        <p:spPr>
          <a:xfrm>
            <a:off x="4376054" y="34386"/>
            <a:ext cx="2616928" cy="32004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Register</a:t>
            </a:r>
            <a:endParaRPr lang="en-IN" dirty="0"/>
          </a:p>
        </p:txBody>
      </p:sp>
      <p:sp>
        <p:nvSpPr>
          <p:cNvPr id="6" name="Rounded Rectangle 5"/>
          <p:cNvSpPr/>
          <p:nvPr/>
        </p:nvSpPr>
        <p:spPr>
          <a:xfrm>
            <a:off x="4376054" y="480200"/>
            <a:ext cx="2616927" cy="32439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Verify with OTP</a:t>
            </a:r>
            <a:endParaRPr lang="en-IN" dirty="0"/>
          </a:p>
        </p:txBody>
      </p:sp>
      <p:sp>
        <p:nvSpPr>
          <p:cNvPr id="7" name="Rounded Rectangle 6"/>
          <p:cNvSpPr/>
          <p:nvPr/>
        </p:nvSpPr>
        <p:spPr>
          <a:xfrm>
            <a:off x="4376052" y="1546833"/>
            <a:ext cx="2616925" cy="29374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eKYC</a:t>
            </a:r>
            <a:r>
              <a:rPr lang="en-US" dirty="0" smtClean="0"/>
              <a:t> Verification</a:t>
            </a:r>
            <a:endParaRPr lang="en-IN" dirty="0"/>
          </a:p>
        </p:txBody>
      </p:sp>
      <p:sp>
        <p:nvSpPr>
          <p:cNvPr id="9" name="Flowchart: Decision 8"/>
          <p:cNvSpPr/>
          <p:nvPr/>
        </p:nvSpPr>
        <p:spPr>
          <a:xfrm>
            <a:off x="4571996" y="866899"/>
            <a:ext cx="2225039" cy="607110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CKYC Data Exists?</a:t>
            </a:r>
            <a:endParaRPr lang="en-IN" sz="1200" dirty="0"/>
          </a:p>
        </p:txBody>
      </p:sp>
      <p:sp>
        <p:nvSpPr>
          <p:cNvPr id="10" name="Rounded Rectangle 9"/>
          <p:cNvSpPr/>
          <p:nvPr/>
        </p:nvSpPr>
        <p:spPr>
          <a:xfrm>
            <a:off x="8180968" y="841497"/>
            <a:ext cx="1689463" cy="65314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Proceed to Profile</a:t>
            </a:r>
            <a:endParaRPr lang="en-IN" dirty="0"/>
          </a:p>
        </p:txBody>
      </p:sp>
      <p:sp>
        <p:nvSpPr>
          <p:cNvPr id="11" name="Rounded Rectangle 10"/>
          <p:cNvSpPr/>
          <p:nvPr/>
        </p:nvSpPr>
        <p:spPr>
          <a:xfrm>
            <a:off x="4376052" y="1956497"/>
            <a:ext cx="2616925" cy="31532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Risk Assessment</a:t>
            </a:r>
            <a:endParaRPr lang="en-IN" dirty="0"/>
          </a:p>
        </p:txBody>
      </p:sp>
      <p:sp>
        <p:nvSpPr>
          <p:cNvPr id="12" name="Rounded Rectangle 11"/>
          <p:cNvSpPr/>
          <p:nvPr/>
        </p:nvSpPr>
        <p:spPr>
          <a:xfrm>
            <a:off x="4376052" y="2372833"/>
            <a:ext cx="2616925" cy="31659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Bank Account Linking</a:t>
            </a:r>
            <a:endParaRPr lang="en-IN" dirty="0"/>
          </a:p>
        </p:txBody>
      </p:sp>
      <p:sp>
        <p:nvSpPr>
          <p:cNvPr id="13" name="Rounded Rectangle 12"/>
          <p:cNvSpPr/>
          <p:nvPr/>
        </p:nvSpPr>
        <p:spPr>
          <a:xfrm>
            <a:off x="4376052" y="2824808"/>
            <a:ext cx="2616925" cy="3436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MF Selection</a:t>
            </a:r>
            <a:endParaRPr lang="en-IN" dirty="0"/>
          </a:p>
        </p:txBody>
      </p:sp>
      <p:sp>
        <p:nvSpPr>
          <p:cNvPr id="14" name="Flowchart: Decision 13"/>
          <p:cNvSpPr/>
          <p:nvPr/>
        </p:nvSpPr>
        <p:spPr>
          <a:xfrm>
            <a:off x="4571994" y="3215333"/>
            <a:ext cx="2225039" cy="510983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Investment </a:t>
            </a:r>
            <a:r>
              <a:rPr lang="en-US" sz="1200" dirty="0" smtClean="0"/>
              <a:t>Type </a:t>
            </a:r>
            <a:endParaRPr lang="en-IN" sz="1200" dirty="0"/>
          </a:p>
        </p:txBody>
      </p:sp>
      <p:sp>
        <p:nvSpPr>
          <p:cNvPr id="15" name="Rounded Rectangle 14"/>
          <p:cNvSpPr/>
          <p:nvPr/>
        </p:nvSpPr>
        <p:spPr>
          <a:xfrm>
            <a:off x="8270595" y="3215333"/>
            <a:ext cx="1599836" cy="53430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SIP Initiation</a:t>
            </a:r>
            <a:endParaRPr lang="en-IN" dirty="0"/>
          </a:p>
        </p:txBody>
      </p:sp>
      <p:sp>
        <p:nvSpPr>
          <p:cNvPr id="17" name="Rounded Rectangle 16"/>
          <p:cNvSpPr/>
          <p:nvPr/>
        </p:nvSpPr>
        <p:spPr>
          <a:xfrm>
            <a:off x="4376046" y="6380647"/>
            <a:ext cx="2616925" cy="31532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Dashboard Update</a:t>
            </a:r>
            <a:endParaRPr lang="en-IN" dirty="0"/>
          </a:p>
        </p:txBody>
      </p:sp>
      <p:sp>
        <p:nvSpPr>
          <p:cNvPr id="18" name="Flowchart: Decision 17"/>
          <p:cNvSpPr/>
          <p:nvPr/>
        </p:nvSpPr>
        <p:spPr>
          <a:xfrm>
            <a:off x="4474020" y="4212529"/>
            <a:ext cx="2420979" cy="563789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Payment Successful?</a:t>
            </a:r>
            <a:endParaRPr lang="en-IN" sz="1200" dirty="0"/>
          </a:p>
        </p:txBody>
      </p:sp>
      <p:sp>
        <p:nvSpPr>
          <p:cNvPr id="19" name="Rounded Rectangle 18"/>
          <p:cNvSpPr/>
          <p:nvPr/>
        </p:nvSpPr>
        <p:spPr>
          <a:xfrm>
            <a:off x="4376049" y="4892474"/>
            <a:ext cx="2616925" cy="31532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Order Routing</a:t>
            </a:r>
            <a:endParaRPr lang="en-IN" dirty="0"/>
          </a:p>
        </p:txBody>
      </p:sp>
      <p:sp>
        <p:nvSpPr>
          <p:cNvPr id="20" name="Rounded Rectangle 19"/>
          <p:cNvSpPr/>
          <p:nvPr/>
        </p:nvSpPr>
        <p:spPr>
          <a:xfrm>
            <a:off x="4376043" y="3821072"/>
            <a:ext cx="2616925" cy="31532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Payment</a:t>
            </a:r>
            <a:endParaRPr lang="en-IN" dirty="0"/>
          </a:p>
        </p:txBody>
      </p:sp>
      <p:sp>
        <p:nvSpPr>
          <p:cNvPr id="21" name="Rounded Rectangle 20"/>
          <p:cNvSpPr/>
          <p:nvPr/>
        </p:nvSpPr>
        <p:spPr>
          <a:xfrm>
            <a:off x="4376045" y="5902530"/>
            <a:ext cx="2616925" cy="31532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Unit Allocation</a:t>
            </a:r>
            <a:endParaRPr lang="en-IN" dirty="0"/>
          </a:p>
        </p:txBody>
      </p:sp>
      <p:sp>
        <p:nvSpPr>
          <p:cNvPr id="22" name="Rounded Rectangle 21"/>
          <p:cNvSpPr/>
          <p:nvPr/>
        </p:nvSpPr>
        <p:spPr>
          <a:xfrm>
            <a:off x="8270595" y="4209450"/>
            <a:ext cx="1599836" cy="53430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Auto Reversal </a:t>
            </a:r>
            <a:endParaRPr lang="en-IN" dirty="0"/>
          </a:p>
        </p:txBody>
      </p:sp>
      <p:sp>
        <p:nvSpPr>
          <p:cNvPr id="23" name="Rounded Rectangle 22"/>
          <p:cNvSpPr/>
          <p:nvPr/>
        </p:nvSpPr>
        <p:spPr>
          <a:xfrm>
            <a:off x="4376044" y="5425766"/>
            <a:ext cx="2616925" cy="31532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Exchange Confirmation</a:t>
            </a:r>
            <a:endParaRPr lang="en-IN" dirty="0"/>
          </a:p>
        </p:txBody>
      </p:sp>
      <p:cxnSp>
        <p:nvCxnSpPr>
          <p:cNvPr id="25" name="Straight Arrow Connector 24"/>
          <p:cNvCxnSpPr>
            <a:stCxn id="5" idx="2"/>
            <a:endCxn id="6" idx="0"/>
          </p:cNvCxnSpPr>
          <p:nvPr/>
        </p:nvCxnSpPr>
        <p:spPr>
          <a:xfrm>
            <a:off x="5684518" y="354426"/>
            <a:ext cx="0" cy="1257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stCxn id="6" idx="2"/>
            <a:endCxn id="9" idx="0"/>
          </p:cNvCxnSpPr>
          <p:nvPr/>
        </p:nvCxnSpPr>
        <p:spPr>
          <a:xfrm flipH="1">
            <a:off x="5684516" y="804595"/>
            <a:ext cx="2" cy="623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stCxn id="9" idx="2"/>
            <a:endCxn id="7" idx="0"/>
          </p:cNvCxnSpPr>
          <p:nvPr/>
        </p:nvCxnSpPr>
        <p:spPr>
          <a:xfrm flipH="1">
            <a:off x="5684515" y="1474009"/>
            <a:ext cx="1" cy="728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stCxn id="7" idx="2"/>
            <a:endCxn id="11" idx="0"/>
          </p:cNvCxnSpPr>
          <p:nvPr/>
        </p:nvCxnSpPr>
        <p:spPr>
          <a:xfrm>
            <a:off x="5684515" y="1840573"/>
            <a:ext cx="0" cy="1159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>
            <a:stCxn id="11" idx="2"/>
            <a:endCxn id="12" idx="0"/>
          </p:cNvCxnSpPr>
          <p:nvPr/>
        </p:nvCxnSpPr>
        <p:spPr>
          <a:xfrm>
            <a:off x="5684515" y="2271820"/>
            <a:ext cx="0" cy="1010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stCxn id="12" idx="2"/>
            <a:endCxn id="13" idx="0"/>
          </p:cNvCxnSpPr>
          <p:nvPr/>
        </p:nvCxnSpPr>
        <p:spPr>
          <a:xfrm>
            <a:off x="5684515" y="2689426"/>
            <a:ext cx="0" cy="1353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stCxn id="13" idx="2"/>
            <a:endCxn id="14" idx="0"/>
          </p:cNvCxnSpPr>
          <p:nvPr/>
        </p:nvCxnSpPr>
        <p:spPr>
          <a:xfrm flipH="1">
            <a:off x="5684514" y="3168481"/>
            <a:ext cx="1" cy="468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>
            <a:stCxn id="14" idx="2"/>
            <a:endCxn id="20" idx="0"/>
          </p:cNvCxnSpPr>
          <p:nvPr/>
        </p:nvCxnSpPr>
        <p:spPr>
          <a:xfrm flipH="1">
            <a:off x="5684506" y="3726316"/>
            <a:ext cx="8" cy="947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stCxn id="18" idx="0"/>
            <a:endCxn id="18" idx="0"/>
          </p:cNvCxnSpPr>
          <p:nvPr/>
        </p:nvCxnSpPr>
        <p:spPr>
          <a:xfrm>
            <a:off x="5684510" y="4212529"/>
            <a:ext cx="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>
            <a:stCxn id="18" idx="2"/>
            <a:endCxn id="19" idx="0"/>
          </p:cNvCxnSpPr>
          <p:nvPr/>
        </p:nvCxnSpPr>
        <p:spPr>
          <a:xfrm>
            <a:off x="5684510" y="4776318"/>
            <a:ext cx="2" cy="1161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stCxn id="19" idx="2"/>
            <a:endCxn id="23" idx="0"/>
          </p:cNvCxnSpPr>
          <p:nvPr/>
        </p:nvCxnSpPr>
        <p:spPr>
          <a:xfrm flipH="1">
            <a:off x="5684507" y="5207797"/>
            <a:ext cx="5" cy="2179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>
            <a:stCxn id="23" idx="2"/>
            <a:endCxn id="21" idx="0"/>
          </p:cNvCxnSpPr>
          <p:nvPr/>
        </p:nvCxnSpPr>
        <p:spPr>
          <a:xfrm>
            <a:off x="5684507" y="5741089"/>
            <a:ext cx="1" cy="1614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>
            <a:stCxn id="21" idx="2"/>
            <a:endCxn id="17" idx="0"/>
          </p:cNvCxnSpPr>
          <p:nvPr/>
        </p:nvCxnSpPr>
        <p:spPr>
          <a:xfrm>
            <a:off x="5684508" y="6217853"/>
            <a:ext cx="1" cy="1627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>
            <a:stCxn id="9" idx="3"/>
            <a:endCxn id="10" idx="1"/>
          </p:cNvCxnSpPr>
          <p:nvPr/>
        </p:nvCxnSpPr>
        <p:spPr>
          <a:xfrm flipV="1">
            <a:off x="6797035" y="1168068"/>
            <a:ext cx="1383933" cy="23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Elbow Connector 53"/>
          <p:cNvCxnSpPr>
            <a:stCxn id="10" idx="2"/>
            <a:endCxn id="11" idx="3"/>
          </p:cNvCxnSpPr>
          <p:nvPr/>
        </p:nvCxnSpPr>
        <p:spPr>
          <a:xfrm rot="5400000">
            <a:off x="7699579" y="788038"/>
            <a:ext cx="619520" cy="203272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7162800" y="866899"/>
            <a:ext cx="495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Yes</a:t>
            </a:r>
            <a:endParaRPr lang="en-IN" dirty="0"/>
          </a:p>
        </p:txBody>
      </p:sp>
      <p:cxnSp>
        <p:nvCxnSpPr>
          <p:cNvPr id="57" name="Straight Arrow Connector 56"/>
          <p:cNvCxnSpPr>
            <a:stCxn id="14" idx="3"/>
            <a:endCxn id="15" idx="1"/>
          </p:cNvCxnSpPr>
          <p:nvPr/>
        </p:nvCxnSpPr>
        <p:spPr>
          <a:xfrm>
            <a:off x="6797033" y="3470825"/>
            <a:ext cx="1473562" cy="116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7301586" y="3168481"/>
            <a:ext cx="495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SIP</a:t>
            </a:r>
            <a:endParaRPr lang="en-IN" dirty="0"/>
          </a:p>
        </p:txBody>
      </p:sp>
      <p:sp>
        <p:nvSpPr>
          <p:cNvPr id="60" name="TextBox 59"/>
          <p:cNvSpPr txBox="1"/>
          <p:nvPr/>
        </p:nvSpPr>
        <p:spPr>
          <a:xfrm>
            <a:off x="3933181" y="3561810"/>
            <a:ext cx="12776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LUMPSUM</a:t>
            </a:r>
            <a:endParaRPr lang="en-IN" sz="1200" dirty="0"/>
          </a:p>
        </p:txBody>
      </p:sp>
      <p:cxnSp>
        <p:nvCxnSpPr>
          <p:cNvPr id="62" name="Straight Arrow Connector 61"/>
          <p:cNvCxnSpPr>
            <a:stCxn id="18" idx="3"/>
            <a:endCxn id="22" idx="1"/>
          </p:cNvCxnSpPr>
          <p:nvPr/>
        </p:nvCxnSpPr>
        <p:spPr>
          <a:xfrm flipV="1">
            <a:off x="6894999" y="4476604"/>
            <a:ext cx="1375596" cy="178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4497249" y="1247422"/>
            <a:ext cx="495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No</a:t>
            </a:r>
            <a:endParaRPr lang="en-IN" dirty="0"/>
          </a:p>
        </p:txBody>
      </p:sp>
      <p:sp>
        <p:nvSpPr>
          <p:cNvPr id="66" name="Rounded Rectangle 65"/>
          <p:cNvSpPr/>
          <p:nvPr/>
        </p:nvSpPr>
        <p:spPr>
          <a:xfrm>
            <a:off x="10544075" y="4234640"/>
            <a:ext cx="1599836" cy="53430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User Notification</a:t>
            </a:r>
            <a:endParaRPr lang="en-IN" dirty="0"/>
          </a:p>
        </p:txBody>
      </p:sp>
      <p:cxnSp>
        <p:nvCxnSpPr>
          <p:cNvPr id="78" name="Straight Arrow Connector 77"/>
          <p:cNvCxnSpPr>
            <a:stCxn id="22" idx="3"/>
            <a:endCxn id="66" idx="1"/>
          </p:cNvCxnSpPr>
          <p:nvPr/>
        </p:nvCxnSpPr>
        <p:spPr>
          <a:xfrm>
            <a:off x="9870431" y="4476604"/>
            <a:ext cx="673644" cy="251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Elbow Connector 80"/>
          <p:cNvCxnSpPr>
            <a:stCxn id="66" idx="0"/>
            <a:endCxn id="20" idx="3"/>
          </p:cNvCxnSpPr>
          <p:nvPr/>
        </p:nvCxnSpPr>
        <p:spPr>
          <a:xfrm rot="16200000" flipV="1">
            <a:off x="9040528" y="1931174"/>
            <a:ext cx="255906" cy="435102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TextBox 81"/>
          <p:cNvSpPr txBox="1"/>
          <p:nvPr/>
        </p:nvSpPr>
        <p:spPr>
          <a:xfrm>
            <a:off x="10601045" y="3558147"/>
            <a:ext cx="7429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Retry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891257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249</TotalTime>
  <Words>46</Words>
  <Application>Microsoft Office PowerPoint</Application>
  <PresentationFormat>Widescreen</PresentationFormat>
  <Paragraphs>24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 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24</cp:revision>
  <dcterms:created xsi:type="dcterms:W3CDTF">2026-04-21T01:36:01Z</dcterms:created>
  <dcterms:modified xsi:type="dcterms:W3CDTF">2026-04-21T05:45:10Z</dcterms:modified>
</cp:coreProperties>
</file>